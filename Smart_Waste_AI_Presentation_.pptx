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58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7772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tos"/>
              </a:defRPr>
            </a:pPr>
            <a:r>
              <a:t>♻️ Smart Waste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5156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نظام ذكي للتعرّف على المخلفات ودعم إعادة التدوير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63240"/>
            <a:ext cx="1069848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700" b="0">
                <a:solidFill>
                  <a:srgbClr val="E1F7E9"/>
                </a:solidFill>
                <a:latin typeface="Aptos"/>
              </a:defRPr>
            </a:pPr>
            <a:r>
              <a:t>Computer Vision &amp; Pattern Recognition · Information Retrieval ·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700" b="0">
                <a:solidFill>
                  <a:srgbClr val="E1F7E9"/>
                </a:solidFill>
                <a:latin typeface="Aptos"/>
              </a:defRPr>
            </a:pPr>
            <a:r>
              <a:t>شرح الفكرة والهيكل والبيانات وآلية عمل النموذج الأولي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66360"/>
            <a:ext cx="10698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200" b="0">
                <a:solidFill>
                  <a:srgbClr val="E1F7E9"/>
                </a:solidFill>
                <a:latin typeface="Aptos"/>
              </a:defRPr>
            </a:pPr>
            <a:r>
              <a:t>نسخة أولية — النتائج التجريبية موضحة بوضوح دون ادعاء دقة غير مقاسة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600" b="1">
                <a:solidFill>
                  <a:srgbClr val="075839"/>
                </a:solidFill>
                <a:latin typeface="Aptos"/>
              </a:defRPr>
            </a:pPr>
            <a:r>
              <a:t>01 · المشكلة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78408"/>
            <a:ext cx="10927080" cy="32004"/>
          </a:xfrm>
          <a:prstGeom prst="rect">
            <a:avLst/>
          </a:prstGeom>
          <a:solidFill>
            <a:srgbClr val="075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6492240"/>
            <a:ext cx="201168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900" b="0">
                <a:solidFill>
                  <a:srgbClr val="5F6E66"/>
                </a:solidFill>
                <a:latin typeface="Aptos"/>
              </a:defRPr>
            </a:pPr>
            <a:r>
              <a:t>SMART WASTE AI  •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500" b="0">
                <a:solidFill>
                  <a:srgbClr val="5F6E66"/>
                </a:solidFill>
                <a:latin typeface="Aptos"/>
              </a:defRPr>
            </a:pPr>
            <a:r>
              <a:t>المشكلة التي يحاول النظام مساعدتنا في حلها.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01368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المستخدم قد لا يعرف طريقة فرز المخلفات أو الجهة التي تستقبلها.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5176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61488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3639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الوصف يختلف من شخص لآخر: «علبة»، «كانز»، «معدن»؛ لذلك نحتاج بحثًا يفهم مرادفات شائعة.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61188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21608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9651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المراكز تختلف في المواد المقبولة، ويجب ألا نعرض بيانات غير موثقة باعتبارها حقيقة.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600" b="1">
                <a:solidFill>
                  <a:srgbClr val="075839"/>
                </a:solidFill>
                <a:latin typeface="Aptos"/>
              </a:defRPr>
            </a:pPr>
            <a:r>
              <a:t>02 · الحل المقترح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78408"/>
            <a:ext cx="10927080" cy="32004"/>
          </a:xfrm>
          <a:prstGeom prst="rect">
            <a:avLst/>
          </a:prstGeom>
          <a:solidFill>
            <a:srgbClr val="075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6492240"/>
            <a:ext cx="201168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900" b="0">
                <a:solidFill>
                  <a:srgbClr val="5F6E66"/>
                </a:solidFill>
                <a:latin typeface="Aptos"/>
              </a:defRPr>
            </a:pPr>
            <a:r>
              <a:t>SMART WASTE AI  •  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35607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رفع صورة للمخلفات واستخراج خصائص بصرية أولية.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8600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7063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البحث في دليل الإرشادات باستخدام كلمات عربية ومرادفات شائعة.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4612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55848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3075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عرض نقاط تجميع وترتيبها وفق المنطقة أو المسافة عندما تتوفر بيانات مواقع موثوقة.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0624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15968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9087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إضافة نموذج تصنيف صور مدرّب بعد توفير مجموعة صور معنونة.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600" b="1">
                <a:solidFill>
                  <a:srgbClr val="075839"/>
                </a:solidFill>
                <a:latin typeface="Aptos"/>
              </a:defRPr>
            </a:pPr>
            <a:r>
              <a:t>03 · رحلة البيانات داخل النظام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78408"/>
            <a:ext cx="10927080" cy="32004"/>
          </a:xfrm>
          <a:prstGeom prst="rect">
            <a:avLst/>
          </a:prstGeom>
          <a:solidFill>
            <a:srgbClr val="075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6492240"/>
            <a:ext cx="201168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900" b="0">
                <a:solidFill>
                  <a:srgbClr val="5F6E66"/>
                </a:solidFill>
                <a:latin typeface="Aptos"/>
              </a:defRPr>
            </a:pPr>
            <a:r>
              <a:t>SMART WASTE AI  • 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57400"/>
            <a:ext cx="2057400" cy="1325880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67128"/>
            <a:ext cx="17830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1. إدخال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42032"/>
            <a:ext cx="1783080" cy="7589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صورة أو وصف نصي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450592"/>
            <a:ext cx="2743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200" b="1">
                <a:solidFill>
                  <a:srgbClr val="07583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2057400"/>
            <a:ext cx="2057400" cy="1325880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799" y="2167128"/>
            <a:ext cx="17830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2. معالجة الصورة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799" y="2542032"/>
            <a:ext cx="1783080" cy="7589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RGB + لون مبدئي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450592"/>
            <a:ext cx="2743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200" b="1">
                <a:solidFill>
                  <a:srgbClr val="07583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59" y="2057400"/>
            <a:ext cx="2057400" cy="1325880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167128"/>
            <a:ext cx="17830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3. استرجاع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542032"/>
            <a:ext cx="1783080" cy="7589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تطبيع النص والبحث بالدليل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59" y="2450592"/>
            <a:ext cx="2743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200" b="1">
                <a:solidFill>
                  <a:srgbClr val="07583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057400"/>
            <a:ext cx="2057400" cy="1325880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2167128"/>
            <a:ext cx="17830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4. ترتيب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542032"/>
            <a:ext cx="1783080" cy="7589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ترتيب نقاط التجميع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2450592"/>
            <a:ext cx="2743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200" b="1">
                <a:solidFill>
                  <a:srgbClr val="07583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2057400"/>
            <a:ext cx="2057400" cy="1325880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2167128"/>
            <a:ext cx="17830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5. النتيجة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542032"/>
            <a:ext cx="1783080" cy="7589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إرشاد وحدود واضحة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114800"/>
            <a:ext cx="1033272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800" b="1">
                <a:solidFill>
                  <a:srgbClr val="B76A18"/>
                </a:solidFill>
                <a:latin typeface="Aptos"/>
              </a:defRPr>
            </a:pPr>
            <a:r>
              <a:t>ملاحظة: النسخة الحالية تحلل اللون وتبحث في الدليل؛ لا تصنف نوع المادة من الصورة بعد.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600" b="1">
                <a:solidFill>
                  <a:srgbClr val="075839"/>
                </a:solidFill>
                <a:latin typeface="Aptos"/>
              </a:defRPr>
            </a:pPr>
            <a:r>
              <a:t>04 · المواد الثلاث في مشروع واحد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78408"/>
            <a:ext cx="10927080" cy="32004"/>
          </a:xfrm>
          <a:prstGeom prst="rect">
            <a:avLst/>
          </a:prstGeom>
          <a:solidFill>
            <a:srgbClr val="075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6492240"/>
            <a:ext cx="201168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900" b="0">
                <a:solidFill>
                  <a:srgbClr val="5F6E66"/>
                </a:solidFill>
                <a:latin typeface="Aptos"/>
              </a:defRPr>
            </a:pPr>
            <a:r>
              <a:t>SMART WASTE AI  • 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520440" cy="2926080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27048"/>
            <a:ext cx="32461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Computer Vision &amp; Pattern 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3246120" cy="23591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core/vision.py</a:t>
            </a:r>
            <a:br/>
            <a:r>
              <a:t>• تحويل الصورة إلى RGB</a:t>
            </a:r>
            <a:br/>
            <a:r>
              <a:t>• تقدير اللون الغالب من قيم البكسلات</a:t>
            </a:r>
            <a:br/>
            <a:r>
              <a:t>• مرحلة لاحقة: مصنف مدرّب لأنواع المخلفات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520440" cy="2926080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27048"/>
            <a:ext cx="32461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Information 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01952"/>
            <a:ext cx="3246120" cy="23591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core/text.py</a:t>
            </a:r>
            <a:br/>
            <a:r>
              <a:t>• تطبيع بعض أشكال الحروف العربية</a:t>
            </a:r>
            <a:br/>
            <a:r>
              <a:t>• كلمات ومرادفات تجريبية</a:t>
            </a:r>
            <a:br/>
            <a:r>
              <a:t>• البحث عن إرشادات مرتبطة بالوصف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17320"/>
            <a:ext cx="3520440" cy="2926080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27048"/>
            <a:ext cx="32461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Algorithms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901952"/>
            <a:ext cx="3246120" cy="23591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core/engine.py</a:t>
            </a:r>
            <a:br/>
            <a:r>
              <a:t>• ترتيب نقاط التجميع</a:t>
            </a:r>
            <a:br/>
            <a:r>
              <a:t>• الدرجة الحالية تعتمد على تطابق المنطقة</a:t>
            </a:r>
            <a:br/>
            <a:r>
              <a:t>• مرحلة لاحقة: حساب المسافة والمواد المقبولة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1024128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600" b="0">
                <a:solidFill>
                  <a:srgbClr val="5F6E66"/>
                </a:solidFill>
                <a:latin typeface="Aptos"/>
              </a:defRPr>
            </a:pPr>
            <a:r>
              <a:t>الواجهة تجمع المكونات، لكن كل جزء مسؤول عن مهمة منفصلة قابلة للاختبار.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600" b="1">
                <a:solidFill>
                  <a:srgbClr val="075839"/>
                </a:solidFill>
                <a:latin typeface="Aptos"/>
              </a:defRPr>
            </a:pPr>
            <a:r>
              <a:t>05 · هيكل ملفات المشروع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78408"/>
            <a:ext cx="10927080" cy="32004"/>
          </a:xfrm>
          <a:prstGeom prst="rect">
            <a:avLst/>
          </a:prstGeom>
          <a:solidFill>
            <a:srgbClr val="075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6492240"/>
            <a:ext cx="201168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900" b="0">
                <a:solidFill>
                  <a:srgbClr val="5F6E66"/>
                </a:solidFill>
                <a:latin typeface="Aptos"/>
              </a:defRPr>
            </a:pPr>
            <a:r>
              <a:t>SMART WASTE AI  •  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35607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app.py — واجهة Streamlit والتنقل بين صفحات فحص المخلفات، دليل التدوير، والمراكز.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8600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7063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core/vision.py — تحليل خصائص الصورة وتقدير اللون الغالب.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4612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55848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3075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core/text.py — تطبيع النص والبحث عن الإرشادات باستخدام كلمات مفتاحية.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0624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15968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9087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core/engine.py — ترتيب مراكز التجميع حسب المنطقة المختارة.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16636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76088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5099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core/data.py — تحميل بيانات المراكز من ملف JSON.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612648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236208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61111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data/centers.json — أمثلة بيانات تجريبية لمراكز ومواد مقبولة.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600" b="1">
                <a:solidFill>
                  <a:srgbClr val="075839"/>
                </a:solidFill>
                <a:latin typeface="Aptos"/>
              </a:defRPr>
            </a:pPr>
            <a:r>
              <a:t>06 · Computer Vision — core/vision.py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78408"/>
            <a:ext cx="10927080" cy="32004"/>
          </a:xfrm>
          <a:prstGeom prst="rect">
            <a:avLst/>
          </a:prstGeom>
          <a:solidFill>
            <a:srgbClr val="075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6492240"/>
            <a:ext cx="201168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900" b="0">
                <a:solidFill>
                  <a:srgbClr val="5F6E66"/>
                </a:solidFill>
                <a:latin typeface="Aptos"/>
              </a:defRPr>
            </a:pPr>
            <a:r>
              <a:t>SMART WASTE AI  • 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383280" cy="1417320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27048"/>
            <a:ext cx="31089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المدخل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3108960" cy="8503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صورة يرفعها المستخدم بصيغة PNG أو JPG.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1417320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527048"/>
            <a:ext cx="31089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المعالجة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901952"/>
            <a:ext cx="3108960" cy="8503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تحويل الصورة إلى RGB وتغيير حجمها لتوحيد الحسابات، ثم حساب متوسط القنوات R وG وB.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17320"/>
            <a:ext cx="3383280" cy="1417320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527048"/>
            <a:ext cx="31089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المخرج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901952"/>
            <a:ext cx="3108960" cy="8503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تقدير تقريبي للون: أحمر، أخضر، أزرق، أبيض، أسود، رمادي، بني أو متعدد.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18288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900" b="1">
                <a:solidFill>
                  <a:srgbClr val="B76A18"/>
                </a:solidFill>
                <a:latin typeface="Aptos"/>
              </a:defRPr>
            </a:pPr>
            <a:r>
              <a:t>حد علمي مهم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60520"/>
            <a:ext cx="10515600" cy="9144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000" b="0">
                <a:solidFill>
                  <a:srgbClr val="1E3128"/>
                </a:solidFill>
                <a:latin typeface="Aptos"/>
              </a:defRPr>
            </a:pPr>
            <a:r>
              <a:t>اللون لا يحدد نوع المادة؛ زجاجة بلاستيك وعبوة زجاجية قد يكون لهما اللون نفسه. لذلك لا نسمي هذه الخطوة «تصنيف مخلفات» نهائيًا.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التطوير المطلوب: استخدام صور معنونة وتدريب نموذج تصنيف ثم إظهار الفئة ودرجة الثقة.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600" b="1">
                <a:solidFill>
                  <a:srgbClr val="075839"/>
                </a:solidFill>
                <a:latin typeface="Aptos"/>
              </a:defRPr>
            </a:pPr>
            <a:r>
              <a:t>07 · Information Retrieval — core/text.py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78408"/>
            <a:ext cx="10927080" cy="32004"/>
          </a:xfrm>
          <a:prstGeom prst="rect">
            <a:avLst/>
          </a:prstGeom>
          <a:solidFill>
            <a:srgbClr val="075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6492240"/>
            <a:ext cx="201168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900" b="0">
                <a:solidFill>
                  <a:srgbClr val="5F6E66"/>
                </a:solidFill>
                <a:latin typeface="Aptos"/>
              </a:defRPr>
            </a:pPr>
            <a:r>
              <a:t>SMART WASTE AI  •  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1371600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27048"/>
            <a:ext cx="30632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استعلام المستخدم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01952"/>
            <a:ext cx="3063240" cy="8046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مثال: «عايز أعرف أعمل إيه بالكرتون»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337560" cy="1371600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27048"/>
            <a:ext cx="30632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تطبيع النص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01952"/>
            <a:ext cx="3063240" cy="8046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توحيد بعض الحروف وإزالة علامات الترقيم والمسافات الزائدة.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337560" cy="1371600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27048"/>
            <a:ext cx="30632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مطابقة المرادفات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01952"/>
            <a:ext cx="3063240" cy="8046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كرتون/ورق ← paper</a:t>
            </a:r>
            <a:br/>
            <a:r>
              <a:t>كانز/علبة/معدن ← metal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13716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900" b="1">
                <a:solidFill>
                  <a:srgbClr val="075839"/>
                </a:solidFill>
                <a:latin typeface="Aptos"/>
              </a:defRPr>
            </a:pPr>
            <a:r>
              <a:t>الناتج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60520"/>
            <a:ext cx="1042416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900" b="0">
                <a:solidFill>
                  <a:srgbClr val="1E3128"/>
                </a:solidFill>
                <a:latin typeface="Aptos"/>
              </a:defRPr>
            </a:pPr>
            <a:r>
              <a:t>إرشاد عام مرتبط بالمادة، مثل إبقاء الورق جافًا ونظيفًا والتحقق من قواعد جهة التدوير المحلية.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257800"/>
            <a:ext cx="1042416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500" b="0">
                <a:solidFill>
                  <a:srgbClr val="5F6E66"/>
                </a:solidFill>
                <a:latin typeface="Aptos"/>
              </a:defRPr>
            </a:pPr>
            <a:r>
              <a:t>النسخة الحالية تعتمد كلمات محددة؛ يمكن توسيعها بفهرس مقلوب وخوارزمية BM25 عندما تكبر قاعدة الإرشادات.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600" b="1">
                <a:solidFill>
                  <a:srgbClr val="075839"/>
                </a:solidFill>
                <a:latin typeface="Aptos"/>
              </a:defRPr>
            </a:pPr>
            <a:r>
              <a:t>08 · Algorithms — core/engine.py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78408"/>
            <a:ext cx="10927080" cy="32004"/>
          </a:xfrm>
          <a:prstGeom prst="rect">
            <a:avLst/>
          </a:prstGeom>
          <a:solidFill>
            <a:srgbClr val="075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6492240"/>
            <a:ext cx="201168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900" b="0">
                <a:solidFill>
                  <a:srgbClr val="5F6E66"/>
                </a:solidFill>
                <a:latin typeface="Aptos"/>
              </a:defRPr>
            </a:pPr>
            <a:r>
              <a:t>SMART WASTE AI  • 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3383280" cy="1508760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31089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المدخل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47672"/>
            <a:ext cx="3108960" cy="94183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قائمة مراكز التجميع، والمنطقة التي اختارها المستخدم.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1508760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572768"/>
            <a:ext cx="31089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القاعدة الحالية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947672"/>
            <a:ext cx="3108960" cy="94183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درجة 1.0 للمركز داخل المنطقة نفسها، و0.35 للمراكز في المناطق الأخرى.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63040"/>
            <a:ext cx="3383280" cy="1508760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72768"/>
            <a:ext cx="31089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الترتيب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947672"/>
            <a:ext cx="3108960" cy="94183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ترتيب تنازلي حسب الدرجة. التعقيد التقريبي لفرز m مركزًا: O(m log m).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24688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900" b="1">
                <a:solidFill>
                  <a:srgbClr val="075839"/>
                </a:solidFill>
                <a:latin typeface="Aptos"/>
              </a:defRPr>
            </a:pPr>
            <a:r>
              <a:t>تحسينات مستقبلية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60520"/>
            <a:ext cx="10332720" cy="11887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800" b="0">
                <a:solidFill>
                  <a:srgbClr val="1E3128"/>
                </a:solidFill>
                <a:latin typeface="Aptos"/>
              </a:defRPr>
            </a:pPr>
            <a:r>
              <a:t>• حساب المسافة الجغرافية باستخدام إحداثيات موثوقة</a:t>
            </a:r>
            <a:br/>
            <a:r>
              <a:t>• فلترة النتائج حسب نوع المادة المقبولة</a:t>
            </a:r>
            <a:br/>
            <a:r>
              <a:t>• إدخال ساعات العمل ومصدر البيانات وتاريخ آخر تحقق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600" b="1">
                <a:solidFill>
                  <a:srgbClr val="075839"/>
                </a:solidFill>
                <a:latin typeface="Aptos"/>
              </a:defRPr>
            </a:pPr>
            <a:r>
              <a:t>09 · البيانات المستخدمة حاليًا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78408"/>
            <a:ext cx="10927080" cy="32004"/>
          </a:xfrm>
          <a:prstGeom prst="rect">
            <a:avLst/>
          </a:prstGeom>
          <a:solidFill>
            <a:srgbClr val="075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6492240"/>
            <a:ext cx="201168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900" b="0">
                <a:solidFill>
                  <a:srgbClr val="5F6E66"/>
                </a:solidFill>
                <a:latin typeface="Aptos"/>
              </a:defRPr>
            </a:pPr>
            <a:r>
              <a:t>SMART WASTE AI  •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45720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800" b="1">
                <a:solidFill>
                  <a:srgbClr val="075839"/>
                </a:solidFill>
                <a:latin typeface="Aptos"/>
              </a:defRPr>
            </a:pPr>
            <a:r>
              <a:t>الملف: data/centers.json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486400" cy="2926080"/>
          </a:xfrm>
          <a:prstGeom prst="roundRect">
            <a:avLst/>
          </a:prstGeom>
          <a:solidFill>
            <a:srgbClr val="F4F7F5"/>
          </a:solidFill>
          <a:ln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5029200" cy="2468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500" b="0">
                <a:solidFill>
                  <a:srgbClr val="1E3128"/>
                </a:solidFill>
                <a:latin typeface="Aptos"/>
              </a:defRPr>
            </a:pPr>
            <a:r>
              <a:t>[</a:t>
            </a:r>
            <a:br/>
            <a:r>
              <a:t>  {</a:t>
            </a:r>
            <a:br/>
            <a:r>
              <a:t>    "name": "نقطة تجميع تجريبية 1",</a:t>
            </a:r>
            <a:br/>
            <a:r>
              <a:t>    "area": "الجامعة",</a:t>
            </a:r>
            <a:br/>
            <a:r>
              <a:t>    "materials": ["بلاستيك", "ورق", "معادن"]</a:t>
            </a:r>
            <a:br/>
            <a:r>
              <a:t>  }</a:t>
            </a:r>
            <a:br/>
            <a:r>
              <a:t>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828800"/>
            <a:ext cx="4663440" cy="1920240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938528"/>
            <a:ext cx="43891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شرح الحقول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313432"/>
            <a:ext cx="4389120" cy="13533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name: اسم تجريبي للنقطة</a:t>
            </a:r>
            <a:br/>
            <a:r>
              <a:t>area: المنطقة المستخدمة للترتيب</a:t>
            </a:r>
            <a:br/>
            <a:r>
              <a:t>materials: أنواع المواد المسموح بها في المثال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160520"/>
            <a:ext cx="4663440" cy="9144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B76A18"/>
                </a:solidFill>
                <a:latin typeface="Aptos"/>
              </a:defRPr>
            </a:pPr>
            <a:r>
              <a:t>هذه البيانات توضيحية وليست دليلًا على وجود مراكز حقيقية. يجب استبدالها بمعلومات موثوقة قبل استخدام التطبيق خارج العرض.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600" b="1">
                <a:solidFill>
                  <a:srgbClr val="075839"/>
                </a:solidFill>
                <a:latin typeface="Aptos"/>
              </a:defRPr>
            </a:pPr>
            <a:r>
              <a:t>10 · بيانات الصور المطلوبة للذكاء الاصطناعي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78408"/>
            <a:ext cx="10927080" cy="32004"/>
          </a:xfrm>
          <a:prstGeom prst="rect">
            <a:avLst/>
          </a:prstGeom>
          <a:solidFill>
            <a:srgbClr val="075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6492240"/>
            <a:ext cx="201168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900" b="0">
                <a:solidFill>
                  <a:srgbClr val="5F6E66"/>
                </a:solidFill>
                <a:latin typeface="Aptos"/>
              </a:defRPr>
            </a:pPr>
            <a:r>
              <a:t>SMART WASTE AI  •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500" b="0">
                <a:solidFill>
                  <a:srgbClr val="5F6E66"/>
                </a:solidFill>
                <a:latin typeface="Aptos"/>
              </a:defRPr>
            </a:pPr>
            <a:r>
              <a:t>الفرق بين بيانات المراكز التجريبية وبيانات الصور التي نحتاجها لتدريب نموذج.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01368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نحتاج صورًا مع تسميات صحيحة مثل: plastic, paper, metal, glass, organic, other.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5176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61488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3639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لكل صورة يفضل تسجيل مصدرها، الفئة، وأي ملاحظات عن جودة الصورة أو الخلفية.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61188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21608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9651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تقسيم البيانات إلى train / validation / test قبل تدريب النموذج.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57200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681728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5663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لا توجد في النسخة الحالية مجموعة صور تدريب مرفقة؛ لذلك لم يتم قياس دقة تصنيف مواد.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600" b="1">
                <a:solidFill>
                  <a:srgbClr val="075839"/>
                </a:solidFill>
                <a:latin typeface="Aptos"/>
              </a:defRPr>
            </a:pPr>
            <a:r>
              <a:t>11 · طريقة تقييم النموذج عند إضافته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78408"/>
            <a:ext cx="10927080" cy="32004"/>
          </a:xfrm>
          <a:prstGeom prst="rect">
            <a:avLst/>
          </a:prstGeom>
          <a:solidFill>
            <a:srgbClr val="075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6492240"/>
            <a:ext cx="201168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900" b="0">
                <a:solidFill>
                  <a:srgbClr val="5F6E66"/>
                </a:solidFill>
                <a:latin typeface="Aptos"/>
              </a:defRPr>
            </a:pPr>
            <a:r>
              <a:t>SMART WASTE AI  • 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35607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Accuracy: نسبة الصور المصنفة بشكل صحيح من جميع صور الاختبار.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8600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7063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Precision وRecall وF1 لكل فئة، حتى نعرف الفئات التي يخطئ فيها النظام.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4612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55848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3075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Confusion Matrix: توضح مثلًا إن كان النموذج يخلط بين الزجاج والبلاستيك.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0624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15968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9087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مقارنة نموذج أساسي بنموذج أفضل على نفس مجموعة الاختبار.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600" b="1">
                <a:solidFill>
                  <a:srgbClr val="075839"/>
                </a:solidFill>
                <a:latin typeface="Aptos"/>
              </a:defRPr>
            </a:pPr>
            <a:r>
              <a:t>12 · واجهة التطبيق — app.py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78408"/>
            <a:ext cx="10927080" cy="32004"/>
          </a:xfrm>
          <a:prstGeom prst="rect">
            <a:avLst/>
          </a:prstGeom>
          <a:solidFill>
            <a:srgbClr val="075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6492240"/>
            <a:ext cx="201168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900" b="0">
                <a:solidFill>
                  <a:srgbClr val="5F6E66"/>
                </a:solidFill>
                <a:latin typeface="Aptos"/>
              </a:defRPr>
            </a:pPr>
            <a:r>
              <a:t>SMART WASTE AI  • 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35607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فحص المخلفات: رفع صورة وعرض اللون والأبعاد والتنبيه إلى حدود التحليل.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8600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7063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دليل التدوير: إدخال وصف عربي وعرض الإرشادات المطابقة.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4612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55848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3075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مراكز التجميع: اختيار منطقة وعرض نقاط التجميع مرتبة.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0624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15968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9087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عن المشروع: شرح المواد الثلاث والقيود العلمية.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600" b="1">
                <a:solidFill>
                  <a:srgbClr val="075839"/>
                </a:solidFill>
                <a:latin typeface="Aptos"/>
              </a:defRPr>
            </a:pPr>
            <a:r>
              <a:t>13 · تجربة استخدام مقترحة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78408"/>
            <a:ext cx="10927080" cy="32004"/>
          </a:xfrm>
          <a:prstGeom prst="rect">
            <a:avLst/>
          </a:prstGeom>
          <a:solidFill>
            <a:srgbClr val="075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6492240"/>
            <a:ext cx="201168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900" b="0">
                <a:solidFill>
                  <a:srgbClr val="5F6E66"/>
                </a:solidFill>
                <a:latin typeface="Aptos"/>
              </a:defRPr>
            </a:pPr>
            <a:r>
              <a:t>SMART WASTE AI  • 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35607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المستخدم يرفع صورة لعلبة معدنية؛ النسخة الحالية تعرض اللون الغالب فقط.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8600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7063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المستخدم يكتب «كانز» في دليل التدوير؛ البحث يطابقها مع فئة المعادن.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4612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55848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3075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المستخدم يختار «الجامعة»؛ تظهر نقاط التجميع التجريبية الخاصة بالمنطقة أولًا.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0624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15968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9087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عند إضافة نموذج صور حقيقي وبيانات مراكز موثوقة، يمكن اختبار رحلة كاملة بصورة أدق.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600" b="1">
                <a:solidFill>
                  <a:srgbClr val="075839"/>
                </a:solidFill>
                <a:latin typeface="Aptos"/>
              </a:defRPr>
            </a:pPr>
            <a:r>
              <a:t>14 · الحدود والأمانة العلمية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78408"/>
            <a:ext cx="10927080" cy="32004"/>
          </a:xfrm>
          <a:prstGeom prst="rect">
            <a:avLst/>
          </a:prstGeom>
          <a:solidFill>
            <a:srgbClr val="075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6492240"/>
            <a:ext cx="201168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900" b="0">
                <a:solidFill>
                  <a:srgbClr val="5F6E66"/>
                </a:solidFill>
                <a:latin typeface="Aptos"/>
              </a:defRPr>
            </a:pPr>
            <a:r>
              <a:t>SMART WASTE AI  • 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35607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لا يوجد حاليًا نموذج تصنيف مواد مدرّب؛ لا ندعي أن النظام يتعرف على المخلفات من الصورة.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8600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7063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بيانات نقاط التجميع اصطناعية/تجريبية ولا تمثل مواقع حقيقية مؤكدة.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4612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55848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3075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الإرشادات عامة وقد تختلف القواعد بين مراكز التدوير.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0624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15968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9087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لا نعرض أرقام دقة أو سرعة غير ناتجة عن تجربة موثقة.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600" b="1">
                <a:solidFill>
                  <a:srgbClr val="075839"/>
                </a:solidFill>
                <a:latin typeface="Aptos"/>
              </a:defRPr>
            </a:pPr>
            <a:r>
              <a:t>15 · خطة التطوير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78408"/>
            <a:ext cx="10927080" cy="32004"/>
          </a:xfrm>
          <a:prstGeom prst="rect">
            <a:avLst/>
          </a:prstGeom>
          <a:solidFill>
            <a:srgbClr val="075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6492240"/>
            <a:ext cx="201168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900" b="0">
                <a:solidFill>
                  <a:srgbClr val="5F6E66"/>
                </a:solidFill>
                <a:latin typeface="Aptos"/>
              </a:defRPr>
            </a:pPr>
            <a:r>
              <a:t>SMART WASTE AI  • 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35607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إضافة مجموعة صور معنونة ومناسبة للاستخدام.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8600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7063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تدريب نموذج تصنيف صور وقياس أدائه على بيانات اختبار منفصلة.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4612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55848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3075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تحسين البحث بإضافة فهرس نصي وترتيب مثل BM25.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06240"/>
            <a:ext cx="1051560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15968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600" b="1">
                <a:solidFill>
                  <a:srgbClr val="07583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90872"/>
            <a:ext cx="10241280" cy="1463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0">
                <a:solidFill>
                  <a:srgbClr val="1E3128"/>
                </a:solidFill>
                <a:latin typeface="Aptos"/>
              </a:defRPr>
            </a:pPr>
            <a:r>
              <a:t>إضافة بيانات جغرافية موثوقة وحساب المسافة الفعلية للمراكز.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58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17320"/>
            <a:ext cx="10698480" cy="9144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tos"/>
              </a:defRPr>
            </a:pPr>
            <a:r>
              <a:t>شكرًا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06040"/>
            <a:ext cx="1069848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أسئلة؟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600" b="0">
                <a:solidFill>
                  <a:srgbClr val="E1F7E9"/>
                </a:solidFill>
                <a:latin typeface="Aptos"/>
              </a:defRPr>
            </a:pPr>
            <a:r>
              <a:t>Smart Waste AI · Python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300" b="0">
                <a:solidFill>
                  <a:srgbClr val="E1F7E9"/>
                </a:solidFill>
                <a:latin typeface="Aptos"/>
              </a:defRPr>
            </a:pPr>
            <a:r>
              <a:t>المشروع الحالي نموذج أولي؛ نتائج التصنيف الفعلية تأتي بعد تدريب النموذج وتقييمه.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669280"/>
          </a:xfrm>
          <a:prstGeom prst="rect">
            <a:avLst/>
          </a:prstGeom>
          <a:solidFill>
            <a:srgbClr val="24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24128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/>
            <a:r>
              <a:rPr sz="1200" b="1">
                <a:solidFill>
                  <a:srgbClr val="24CDA6"/>
                </a:solidFill>
                <a:latin typeface="Aptos"/>
              </a:rPr>
              <a:t>SMART WASTE AI  • 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058400" cy="6400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Project Completion &amp;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9875520" cy="5029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/>
            <a:r>
              <a:rPr sz="1700" b="0">
                <a:solidFill>
                  <a:srgbClr val="B4C6D7"/>
                </a:solidFill>
                <a:latin typeface="Aptos"/>
              </a:rPr>
              <a:t>This project was prepared by: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10058400" cy="2971800"/>
          </a:xfrm>
          <a:prstGeom prst="roundRect">
            <a:avLst/>
          </a:prstGeom>
          <a:solidFill>
            <a:srgbClr val="14283A"/>
          </a:solidFill>
          <a:ln>
            <a:solidFill>
              <a:srgbClr val="2B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274320" tIns="219456" bIns="137160"/>
          <a:lstStyle/>
          <a:p>
            <a:pPr algn="r">
              <a:spcAft>
                <a:spcPts val="1300"/>
              </a:spcAft>
            </a:pPr>
            <a:r>
              <a:rPr sz="2100" b="0">
                <a:solidFill>
                  <a:srgbClr val="FFFFFF"/>
                </a:solidFill>
                <a:latin typeface="Arial"/>
              </a:rPr>
              <a:t>1.  ادهم ابراهيم احمد السيد</a:t>
            </a:r>
          </a:p>
          <a:p>
            <a:pPr algn="r">
              <a:spcAft>
                <a:spcPts val="1300"/>
              </a:spcAft>
            </a:pPr>
            <a:r>
              <a:rPr sz="2100" b="0">
                <a:solidFill>
                  <a:srgbClr val="FFFFFF"/>
                </a:solidFill>
                <a:latin typeface="Arial"/>
              </a:rPr>
              <a:t>2.  ادهم اسامه طه</a:t>
            </a:r>
          </a:p>
          <a:p>
            <a:pPr algn="r">
              <a:spcAft>
                <a:spcPts val="1300"/>
              </a:spcAft>
            </a:pPr>
            <a:r>
              <a:rPr sz="2100" b="0">
                <a:solidFill>
                  <a:srgbClr val="FFFFFF"/>
                </a:solidFill>
                <a:latin typeface="Arial"/>
              </a:rPr>
              <a:t>3.  احمد عبدالناصر اسماعيل</a:t>
            </a:r>
          </a:p>
          <a:p>
            <a:pPr algn="r">
              <a:spcAft>
                <a:spcPts val="1300"/>
              </a:spcAft>
            </a:pPr>
            <a:r>
              <a:rPr sz="2100" b="0">
                <a:solidFill>
                  <a:srgbClr val="FFFFFF"/>
                </a:solidFill>
                <a:latin typeface="Arial"/>
              </a:rPr>
              <a:t>4.  احمد محمود محمد حسن المير</a:t>
            </a:r>
          </a:p>
          <a:p>
            <a:pPr algn="r">
              <a:spcAft>
                <a:spcPts val="1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5.  يوسف امجد محمد محمد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23560"/>
            <a:ext cx="987552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/>
            <a:r>
              <a:rPr sz="1800" b="1">
                <a:solidFill>
                  <a:srgbClr val="24CDA6"/>
                </a:solidFill>
                <a:latin typeface="Apto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78440" y="6355080"/>
            <a:ext cx="640080" cy="22860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r"/>
            <a:r>
              <a:rPr sz="1000" b="0">
                <a:solidFill>
                  <a:srgbClr val="B4C6D7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